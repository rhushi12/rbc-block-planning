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303A"/>
                </a:solidFill>
              </a:defRPr>
            </a:pPr>
            <a:r>
              <a:t>Less track closed. More trains running.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</a:defRPr>
            </a:pPr>
            <a:r>
              <a:t>RBC: AI that plans railway maintenance for every team at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514600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fewer track closures in one week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737360"/>
            <a:ext cx="2514600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828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105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of track time given back to trains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34148"/>
                </a:solidFill>
              </a:defRPr>
            </a:pPr>
            <a:r>
              <a:t>•  Smart India Hackathon · SIH26027 · Ministry of Railways</a:t>
            </a:r>
          </a:p>
        </p:txBody>
      </p:sp>
      <p:pic>
        <p:nvPicPr>
          <p:cNvPr id="12" name="Picture 11" descr="01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882335" cy="2965756"/>
          </a:xfrm>
          <a:prstGeom prst="rect">
            <a:avLst/>
          </a:prstGeom>
          <a:ln>
            <a:solidFill>
              <a:srgbClr val="D5DDE0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303A"/>
                </a:solidFill>
              </a:defRPr>
            </a:pPr>
            <a:r>
              <a:t>The problem: the same track is closed again and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</a:defRPr>
            </a:pPr>
            <a:r>
              <a:t>Three maintenance teams each plan their own work,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547207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54720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52728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teams planning separately: track, signals, overhead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7287" y="1737360"/>
            <a:ext cx="5547207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7287" y="1828800"/>
            <a:ext cx="554720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50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2468880"/>
            <a:ext cx="52728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just to make the power line safe, before any work starts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34148"/>
                </a:solidFill>
              </a:defRPr>
            </a:pPr>
            <a:r>
              <a:t>•  Each team asks for its own track closure, often on the same stretch, on the same day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Every closure repeats the safety setup, and every minute closed is a minute trains cannot run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Nobody sees the full picture: what is overdue, what might break, which time slot is free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303A"/>
                </a:solidFill>
              </a:defRPr>
            </a:pPr>
            <a:r>
              <a:t>Our idea: one plan for all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</a:defRPr>
            </a:pPr>
            <a:r>
              <a:t>Put all the work together, then fit it into the fewest closures.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514600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0.25 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to plan a full week of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34148"/>
                </a:solidFill>
              </a:defRPr>
            </a:pPr>
            <a:r>
              <a:t>1. Collect every pending job from all three teams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2. AI ranks them: what is most overdue and most likely to fail goes first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3. Group jobs on the same stretch into one closure, at the time that disturbs the fewest trains</a:t>
            </a:r>
          </a:p>
        </p:txBody>
      </p:sp>
      <p:pic>
        <p:nvPicPr>
          <p:cNvPr id="9" name="Picture 8" descr="02-block-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882335" cy="2953736"/>
          </a:xfrm>
          <a:prstGeom prst="rect">
            <a:avLst/>
          </a:prstGeom>
          <a:ln>
            <a:solidFill>
              <a:srgbClr val="D5DDE0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303A"/>
                </a:solidFill>
              </a:defRPr>
            </a:pPr>
            <a:r>
              <a:t>The impact in one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</a:defRPr>
            </a:pPr>
            <a:r>
              <a:t>Compared with planning every job separately, on a real Western Railway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682163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6821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4078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fewer track closures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2243" y="1737360"/>
            <a:ext cx="2682163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2243" y="1828800"/>
            <a:ext cx="26821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105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9403" y="2468880"/>
            <a:ext cx="24078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of track time back to trains (6,285 min)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6" y="1737360"/>
            <a:ext cx="2682163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7286" y="1828800"/>
            <a:ext cx="26821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138 of 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6" y="2468880"/>
            <a:ext cx="24078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maintenance jobs planned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329" y="1737360"/>
            <a:ext cx="2682163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329" y="1828800"/>
            <a:ext cx="26821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46.5%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489" y="2468880"/>
            <a:ext cx="24078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less track time lost to 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34148"/>
                </a:solidFill>
              </a:defRPr>
            </a:pPr>
            <a:r>
              <a:t>•  In a single day, the saving is even bigger: 60% less track time lost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303A"/>
                </a:solidFill>
              </a:defRPr>
            </a:pPr>
            <a:r>
              <a:t>One example: 10 jobs, 3 teams, 1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</a:defRPr>
            </a:pPr>
            <a:r>
              <a:t>Instead of 10 separate closures on the same stretch.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514600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615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less track closed than doing the jobs separately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737360"/>
            <a:ext cx="2514600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828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1×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safety setup, instead of 10 times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34148"/>
                </a:solidFill>
              </a:defRPr>
            </a:pPr>
            <a:r>
              <a:t>•  Teams work side by side in the same time window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The app shows exactly why it picked this slot, and how many trains it affects</a:t>
            </a:r>
          </a:p>
        </p:txBody>
      </p:sp>
      <p:pic>
        <p:nvPicPr>
          <p:cNvPr id="12" name="Picture 11" descr="03-why-this-wind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882335" cy="2802907"/>
          </a:xfrm>
          <a:prstGeom prst="rect">
            <a:avLst/>
          </a:prstGeom>
          <a:ln>
            <a:solidFill>
              <a:srgbClr val="D5DDE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303A"/>
                </a:solidFill>
              </a:defRPr>
            </a:pPr>
            <a:r>
              <a:t>Built on real trains, not made-up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</a:defRPr>
            </a:pPr>
            <a:r>
              <a:t>Vadodara to Ahmedabad: 100 km, 180 real trains every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514600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42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the longest gap between trains when both tracks are closed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737360"/>
            <a:ext cx="2514600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828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6 trains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the fewest affected by the best planned slot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34148"/>
                </a:solidFill>
              </a:defRPr>
            </a:pPr>
            <a:r>
              <a:t>•  The line is so busy that work cannot simply wait for a gap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So the app finds the time slot that disturbs the fewest trains, and shows that cost up front</a:t>
            </a:r>
          </a:p>
        </p:txBody>
      </p:sp>
      <p:pic>
        <p:nvPicPr>
          <p:cNvPr id="12" name="Picture 11" descr="07-corridor-window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882335" cy="2957926"/>
          </a:xfrm>
          <a:prstGeom prst="rect">
            <a:avLst/>
          </a:prstGeom>
          <a:ln>
            <a:solidFill>
              <a:srgbClr val="D5DDE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303A"/>
                </a:solidFill>
              </a:defRPr>
            </a:pPr>
            <a:r>
              <a:t>AI you can trust, because it explains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</a:defRPr>
            </a:pPr>
            <a:r>
              <a:t>Click "Why?" on any job to see exactly what made it urgent.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514600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77%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of the time the AI picks the same time slot a planner chose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737360"/>
            <a:ext cx="2514600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828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Almost 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better than just taking the first free slot (28%)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34148"/>
                </a:solidFill>
              </a:defRPr>
            </a:pPr>
            <a:r>
              <a:t>•  Predicts which parts are likely to fail before the next check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Ranks jobs by how late they are, how risky they are, and how bad a failure would be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No black box: every score is broken down into its reasons</a:t>
            </a:r>
          </a:p>
        </p:txBody>
      </p:sp>
      <p:pic>
        <p:nvPicPr>
          <p:cNvPr id="12" name="Picture 11" descr="04-backlog-w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882335" cy="2752631"/>
          </a:xfrm>
          <a:prstGeom prst="rect">
            <a:avLst/>
          </a:prstGeom>
          <a:ln>
            <a:solidFill>
              <a:srgbClr val="D5DDE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303A"/>
                </a:solidFill>
              </a:defRPr>
            </a:pPr>
            <a:r>
              <a:t>Safety first: AI suggests, people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</a:defRPr>
            </a:pPr>
            <a:r>
              <a:t>Nothing is scheduled until a named controller approves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514600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of approvals re-checked against safety rules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34148"/>
                </a:solidFill>
              </a:defRPr>
            </a:pPr>
            <a:r>
              <a:t>•  Before approval, the app shows the cost clearly, like "this affects 30 trains"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If a train runs late, an emergency comes in, or a closure is cancelled, the plan is checked again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Every decision is recorded with who approved it and when</a:t>
            </a:r>
          </a:p>
        </p:txBody>
      </p:sp>
      <p:pic>
        <p:nvPicPr>
          <p:cNvPr id="9" name="Picture 8" descr="05-approval-dia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707" y="1737360"/>
            <a:ext cx="5028121" cy="2354580"/>
          </a:xfrm>
          <a:prstGeom prst="rect">
            <a:avLst/>
          </a:prstGeom>
          <a:ln>
            <a:solidFill>
              <a:srgbClr val="D5DDE0"/>
            </a:solidFill>
          </a:ln>
        </p:spPr>
      </p:pic>
      <p:pic>
        <p:nvPicPr>
          <p:cNvPr id="10" name="Picture 9" descr="06-approved-schedu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222" y="4229100"/>
            <a:ext cx="4579091" cy="2354580"/>
          </a:xfrm>
          <a:prstGeom prst="rect">
            <a:avLst/>
          </a:prstGeom>
          <a:ln>
            <a:solidFill>
              <a:srgbClr val="D5DDE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303A"/>
                </a:solidFill>
              </a:defRPr>
            </a:pPr>
            <a:r>
              <a:t>A built-in assistant that speaks plain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</a:defRPr>
            </a:pPr>
            <a:r>
              <a:t>Runs on the laptop itself. No internet needed, and no data leaves the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34148"/>
                </a:solidFill>
              </a:defRPr>
            </a:pPr>
            <a:r>
              <a:t>•  Type a note like "rail crack near km 42 on the up line" and it fills in the job form for you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Ask "why was this job delayed?" and it answers from the plan, or says it does not know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It only helps with words. Planning and safety decisions stay with the system and people.</a:t>
            </a:r>
          </a:p>
        </p:txBody>
      </p:sp>
      <p:pic>
        <p:nvPicPr>
          <p:cNvPr id="6" name="Picture 5" descr="08-intake-dra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505" y="1737360"/>
            <a:ext cx="4672525" cy="2354580"/>
          </a:xfrm>
          <a:prstGeom prst="rect">
            <a:avLst/>
          </a:prstGeom>
          <a:ln>
            <a:solidFill>
              <a:srgbClr val="D5DDE0"/>
            </a:solidFill>
          </a:ln>
        </p:spPr>
      </p:pic>
      <p:pic>
        <p:nvPicPr>
          <p:cNvPr id="7" name="Picture 6" descr="09-ask-the-pl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528" y="4229100"/>
            <a:ext cx="4682479" cy="2354580"/>
          </a:xfrm>
          <a:prstGeom prst="rect">
            <a:avLst/>
          </a:prstGeom>
          <a:ln>
            <a:solidFill>
              <a:srgbClr val="D5DDE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303A"/>
                </a:solidFill>
              </a:defRPr>
            </a:pPr>
            <a:r>
              <a:t>Ready for a real railway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</a:defRPr>
            </a:pPr>
            <a:r>
              <a:t>More trains on time, safer tracks, and less wasted time for maintenance teams.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547207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54720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52728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automated tests passing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7287" y="1737360"/>
            <a:ext cx="5547207" cy="123444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7287" y="1828800"/>
            <a:ext cx="554720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766E"/>
                </a:solidFill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2468880"/>
            <a:ext cx="52728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48"/>
                </a:solidFill>
              </a:defRPr>
            </a:pPr>
            <a:r>
              <a:t>internet, logins or paid services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34148"/>
                </a:solidFill>
              </a:defRPr>
            </a:pPr>
            <a:r>
              <a:t>•  Uses real train timings today. Maintenance records are sample data, because real records are not public.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Built to plug in real records from one division and retrain automatically</a:t>
            </a:r>
          </a:p>
          <a:p>
            <a:pPr>
              <a:spcAft>
                <a:spcPts val="800"/>
              </a:spcAft>
              <a:defRPr sz="1500">
                <a:solidFill>
                  <a:srgbClr val="334148"/>
                </a:solidFill>
              </a:defRPr>
            </a:pPr>
            <a:r>
              <a:t>•  Next step: a pilot on one real division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